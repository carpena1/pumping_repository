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4"/>
  </p:notesMasterIdLst>
  <p:sldIdLst>
    <p:sldId id="256" r:id="rId2"/>
    <p:sldId id="257" r:id="rId3"/>
  </p:sldIdLst>
  <p:sldSz cx="18288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404" autoAdjust="0"/>
    <p:restoredTop sz="94658"/>
  </p:normalViewPr>
  <p:slideViewPr>
    <p:cSldViewPr snapToGrid="0">
      <p:cViewPr varScale="1">
        <p:scale>
          <a:sx n="90" d="100"/>
          <a:sy n="90" d="100"/>
        </p:scale>
        <p:origin x="65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E8317C-39C0-4553-8019-EC7378B15FDE}" type="datetimeFigureOut">
              <a:rPr lang="en-US" smtClean="0"/>
              <a:t>10/1/25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42900" y="1143000"/>
            <a:ext cx="61722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CBE862-CAD7-4AC7-98D2-B411245998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77548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42900" y="1143000"/>
            <a:ext cx="61722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CBE862-CAD7-4AC7-98D2-B411245998E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0366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496484"/>
            <a:ext cx="137160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4802717"/>
            <a:ext cx="13716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FFFC7-A4A1-4542-8AF1-D5123BFB9FF1}" type="datetimeFigureOut">
              <a:rPr lang="en-US" smtClean="0"/>
              <a:t>10/1/25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F91F9-AD33-4C87-B905-19F5D2FBD7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315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FFFC7-A4A1-4542-8AF1-D5123BFB9FF1}" type="datetimeFigureOut">
              <a:rPr lang="en-US" smtClean="0"/>
              <a:t>10/1/25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F91F9-AD33-4C87-B905-19F5D2FBD7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3107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279652"/>
            <a:ext cx="1577340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119285"/>
            <a:ext cx="1577340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FFFC7-A4A1-4542-8AF1-D5123BFB9FF1}" type="datetimeFigureOut">
              <a:rPr lang="en-US" smtClean="0"/>
              <a:t>10/1/25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F91F9-AD33-4C87-B905-19F5D2FBD7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5492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434167"/>
            <a:ext cx="77724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434167"/>
            <a:ext cx="77724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FFFC7-A4A1-4542-8AF1-D5123BFB9FF1}" type="datetimeFigureOut">
              <a:rPr lang="en-US" smtClean="0"/>
              <a:t>10/1/25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F91F9-AD33-4C87-B905-19F5D2FBD7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2907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486834"/>
            <a:ext cx="1577340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241551"/>
            <a:ext cx="7736681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3340100"/>
            <a:ext cx="7736681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241551"/>
            <a:ext cx="7774782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340100"/>
            <a:ext cx="7774782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FFFC7-A4A1-4542-8AF1-D5123BFB9FF1}" type="datetimeFigureOut">
              <a:rPr lang="en-US" smtClean="0"/>
              <a:t>10/1/25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F91F9-AD33-4C87-B905-19F5D2FBD7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5773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FFFC7-A4A1-4542-8AF1-D5123BFB9FF1}" type="datetimeFigureOut">
              <a:rPr lang="en-US" smtClean="0"/>
              <a:t>10/1/25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F91F9-AD33-4C87-B905-19F5D2FBD7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5546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FFFC7-A4A1-4542-8AF1-D5123BFB9FF1}" type="datetimeFigureOut">
              <a:rPr lang="en-US" smtClean="0"/>
              <a:t>10/1/25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F91F9-AD33-4C87-B905-19F5D2FBD7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6298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09600"/>
            <a:ext cx="5898356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316567"/>
            <a:ext cx="9258300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2743200"/>
            <a:ext cx="5898356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FFFC7-A4A1-4542-8AF1-D5123BFB9FF1}" type="datetimeFigureOut">
              <a:rPr lang="en-US" smtClean="0"/>
              <a:t>10/1/25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F91F9-AD33-4C87-B905-19F5D2FBD7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977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09600"/>
            <a:ext cx="5898356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1316567"/>
            <a:ext cx="9258300" cy="649816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2743200"/>
            <a:ext cx="5898356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FFFC7-A4A1-4542-8AF1-D5123BFB9FF1}" type="datetimeFigureOut">
              <a:rPr lang="en-US" smtClean="0"/>
              <a:t>10/1/25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F91F9-AD33-4C87-B905-19F5D2FBD7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935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FFFC7-A4A1-4542-8AF1-D5123BFB9FF1}" type="datetimeFigureOut">
              <a:rPr lang="en-US" smtClean="0"/>
              <a:t>10/1/25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F91F9-AD33-4C87-B905-19F5D2FBD7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8673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486834"/>
            <a:ext cx="3943350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486834"/>
            <a:ext cx="11601450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FFFC7-A4A1-4542-8AF1-D5123BFB9FF1}" type="datetimeFigureOut">
              <a:rPr lang="en-US" smtClean="0"/>
              <a:t>10/1/25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F91F9-AD33-4C87-B905-19F5D2FBD7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862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486834"/>
            <a:ext cx="157734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434167"/>
            <a:ext cx="157734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8475134"/>
            <a:ext cx="4114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CFFFC7-A4A1-4542-8AF1-D5123BFB9FF1}" type="datetimeFigureOut">
              <a:rPr lang="en-US" smtClean="0"/>
              <a:t>10/1/25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8475134"/>
            <a:ext cx="6172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8475134"/>
            <a:ext cx="4114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3F91F9-AD33-4C87-B905-19F5D2FBD7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6635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6748D92-7118-D7D5-12D3-A8766DD98E02}"/>
                  </a:ext>
                </a:extLst>
              </p:cNvPr>
              <p:cNvSpPr txBox="1"/>
              <p:nvPr/>
            </p:nvSpPr>
            <p:spPr>
              <a:xfrm>
                <a:off x="6294912" y="707021"/>
                <a:ext cx="1965602" cy="830997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Optimization _h_p</a:t>
                </a:r>
              </a:p>
              <a:p>
                <a:pPr algn="ctr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Sobol sampling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sz="160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l-G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α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𝑠𝑎𝑡</m:t>
                          </m:r>
                        </m:sub>
                      </m:sSub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6748D92-7118-D7D5-12D3-A8766DD98E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4912" y="707021"/>
                <a:ext cx="1965602" cy="830997"/>
              </a:xfrm>
              <a:prstGeom prst="rect">
                <a:avLst/>
              </a:prstGeom>
              <a:blipFill>
                <a:blip r:embed="rId3"/>
                <a:stretch>
                  <a:fillRect l="-1274" t="-1493" r="-637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EEE1FCB-83A7-0953-1550-8A4A0F23BD7C}"/>
                  </a:ext>
                </a:extLst>
              </p:cNvPr>
              <p:cNvSpPr txBox="1"/>
              <p:nvPr/>
            </p:nvSpPr>
            <p:spPr>
              <a:xfrm>
                <a:off x="7999537" y="2115195"/>
                <a:ext cx="1663700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Effective</a:t>
                </a:r>
                <a:endParaRPr lang="en-US" sz="16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sz="160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l-G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α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𝑠𝑎𝑡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EEE1FCB-83A7-0953-1550-8A4A0F23BD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9537" y="2115195"/>
                <a:ext cx="1663700" cy="584775"/>
              </a:xfrm>
              <a:prstGeom prst="rect">
                <a:avLst/>
              </a:prstGeom>
              <a:blipFill>
                <a:blip r:embed="rId4"/>
                <a:stretch>
                  <a:fillRect t="-2128" b="-851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B48F0DE-F85D-F7E4-A814-028CF60B4C21}"/>
                  </a:ext>
                </a:extLst>
              </p:cNvPr>
              <p:cNvSpPr txBox="1"/>
              <p:nvPr/>
            </p:nvSpPr>
            <p:spPr>
              <a:xfrm>
                <a:off x="5439479" y="2115195"/>
                <a:ext cx="1282700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Effective </a:t>
                </a:r>
                <a:b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B48F0DE-F85D-F7E4-A814-028CF60B4C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9479" y="2115195"/>
                <a:ext cx="1282700" cy="584775"/>
              </a:xfrm>
              <a:prstGeom prst="rect">
                <a:avLst/>
              </a:prstGeom>
              <a:blipFill>
                <a:blip r:embed="rId5"/>
                <a:stretch>
                  <a:fillRect t="-212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7752198-4FB8-2E47-23DB-9EDB4BC382B6}"/>
              </a:ext>
            </a:extLst>
          </p:cNvPr>
          <p:cNvCxnSpPr>
            <a:cxnSpLocks/>
            <a:endCxn id="89" idx="0"/>
          </p:cNvCxnSpPr>
          <p:nvPr/>
        </p:nvCxnSpPr>
        <p:spPr>
          <a:xfrm>
            <a:off x="6030029" y="1806136"/>
            <a:ext cx="0" cy="30322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5196807-41C6-8590-8E52-6CBBA29E6870}"/>
              </a:ext>
            </a:extLst>
          </p:cNvPr>
          <p:cNvSpPr txBox="1"/>
          <p:nvPr/>
        </p:nvSpPr>
        <p:spPr>
          <a:xfrm>
            <a:off x="4817653" y="5559690"/>
            <a:ext cx="2231737" cy="83099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Application to _h_np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no pumping, same parameters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463B20A-6CC9-FE36-B74C-E30FDE044B85}"/>
                  </a:ext>
                </a:extLst>
              </p:cNvPr>
              <p:cNvSpPr txBox="1"/>
              <p:nvPr/>
            </p:nvSpPr>
            <p:spPr>
              <a:xfrm>
                <a:off x="7793941" y="3316131"/>
                <a:ext cx="2104737" cy="830997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Optimization _s_p</a:t>
                </a:r>
              </a:p>
              <a:p>
                <a:pPr algn="ctr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Sobol Sampling</a:t>
                </a:r>
                <a:b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463B20A-6CC9-FE36-B74C-E30FDE044B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3941" y="3316131"/>
                <a:ext cx="2104737" cy="830997"/>
              </a:xfrm>
              <a:prstGeom prst="rect">
                <a:avLst/>
              </a:prstGeom>
              <a:blipFill>
                <a:blip r:embed="rId6"/>
                <a:stretch>
                  <a:fillRect t="-1471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6457284-BFF6-2457-7643-D03A3D7A155F}"/>
                  </a:ext>
                </a:extLst>
              </p:cNvPr>
              <p:cNvSpPr txBox="1"/>
              <p:nvPr/>
            </p:nvSpPr>
            <p:spPr>
              <a:xfrm>
                <a:off x="9168040" y="4672574"/>
                <a:ext cx="1282700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Effective </a:t>
                </a:r>
                <a:b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6457284-BFF6-2457-7643-D03A3D7A15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8040" y="4672574"/>
                <a:ext cx="1282700" cy="584775"/>
              </a:xfrm>
              <a:prstGeom prst="rect">
                <a:avLst/>
              </a:prstGeom>
              <a:blipFill>
                <a:blip r:embed="rId7"/>
                <a:stretch>
                  <a:fillRect t="-212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CC807DB-6DB1-37EF-0A41-B6DF312032BA}"/>
                  </a:ext>
                </a:extLst>
              </p:cNvPr>
              <p:cNvSpPr txBox="1"/>
              <p:nvPr/>
            </p:nvSpPr>
            <p:spPr>
              <a:xfrm>
                <a:off x="7598587" y="4669901"/>
                <a:ext cx="1282700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Effective</a:t>
                </a:r>
                <a:b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CC807DB-6DB1-37EF-0A41-B6DF312032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8587" y="4669901"/>
                <a:ext cx="1282700" cy="584775"/>
              </a:xfrm>
              <a:prstGeom prst="rect">
                <a:avLst/>
              </a:prstGeom>
              <a:blipFill>
                <a:blip r:embed="rId8"/>
                <a:stretch>
                  <a:fillRect t="-212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F7C893EA-825B-87EB-DB70-6B2E6047385A}"/>
              </a:ext>
            </a:extLst>
          </p:cNvPr>
          <p:cNvCxnSpPr>
            <a:cxnSpLocks/>
          </p:cNvCxnSpPr>
          <p:nvPr/>
        </p:nvCxnSpPr>
        <p:spPr>
          <a:xfrm>
            <a:off x="10716771" y="2999027"/>
            <a:ext cx="0" cy="2573923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F8A899BA-AD7C-1062-1C9A-14E6F2A618B3}"/>
              </a:ext>
            </a:extLst>
          </p:cNvPr>
          <p:cNvCxnSpPr>
            <a:cxnSpLocks/>
          </p:cNvCxnSpPr>
          <p:nvPr/>
        </p:nvCxnSpPr>
        <p:spPr>
          <a:xfrm>
            <a:off x="8881287" y="1820238"/>
            <a:ext cx="0" cy="27432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DBD8A1ED-0EA4-2B2D-7408-9026CECEE47A}"/>
              </a:ext>
            </a:extLst>
          </p:cNvPr>
          <p:cNvCxnSpPr>
            <a:cxnSpLocks/>
          </p:cNvCxnSpPr>
          <p:nvPr/>
        </p:nvCxnSpPr>
        <p:spPr>
          <a:xfrm>
            <a:off x="4540562" y="2999026"/>
            <a:ext cx="61722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BC28812-0106-A6E4-89B7-0DBA3B8F42E1}"/>
              </a:ext>
            </a:extLst>
          </p:cNvPr>
          <p:cNvCxnSpPr>
            <a:cxnSpLocks/>
            <a:stCxn id="90" idx="4"/>
            <a:endCxn id="25" idx="0"/>
          </p:cNvCxnSpPr>
          <p:nvPr/>
        </p:nvCxnSpPr>
        <p:spPr>
          <a:xfrm>
            <a:off x="8844087" y="2757057"/>
            <a:ext cx="2223" cy="559074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64346A9C-B58A-917C-C339-0AB470085678}"/>
              </a:ext>
            </a:extLst>
          </p:cNvPr>
          <p:cNvCxnSpPr>
            <a:cxnSpLocks/>
          </p:cNvCxnSpPr>
          <p:nvPr/>
        </p:nvCxnSpPr>
        <p:spPr>
          <a:xfrm>
            <a:off x="5933442" y="2759063"/>
            <a:ext cx="0" cy="2794936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850B51E6-2994-2698-DB05-5D2BA94BEED7}"/>
              </a:ext>
            </a:extLst>
          </p:cNvPr>
          <p:cNvCxnSpPr>
            <a:cxnSpLocks/>
          </p:cNvCxnSpPr>
          <p:nvPr/>
        </p:nvCxnSpPr>
        <p:spPr>
          <a:xfrm>
            <a:off x="9740877" y="5279679"/>
            <a:ext cx="0" cy="27432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057BB4AB-4FA4-E257-72FD-28BAFC30F267}"/>
              </a:ext>
            </a:extLst>
          </p:cNvPr>
          <p:cNvSpPr txBox="1"/>
          <p:nvPr/>
        </p:nvSpPr>
        <p:spPr>
          <a:xfrm>
            <a:off x="8817244" y="5559690"/>
            <a:ext cx="2231737" cy="83099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Application to _s_np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no pumping, same parameters 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33273C8-0D62-5A8D-D398-3824956B602C}"/>
              </a:ext>
            </a:extLst>
          </p:cNvPr>
          <p:cNvSpPr txBox="1"/>
          <p:nvPr/>
        </p:nvSpPr>
        <p:spPr>
          <a:xfrm>
            <a:off x="11309284" y="707021"/>
            <a:ext cx="2537842" cy="83099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Optimization _c_np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HYDRUS internal optimization</a:t>
            </a:r>
          </a:p>
        </p:txBody>
      </p:sp>
      <p:sp>
        <p:nvSpPr>
          <p:cNvPr id="89" name="Parallelogram 88">
            <a:extLst>
              <a:ext uri="{FF2B5EF4-FFF2-40B4-BE49-F238E27FC236}">
                <a16:creationId xmlns:a16="http://schemas.microsoft.com/office/drawing/2014/main" id="{1B3D373E-A65A-917F-D734-37DE20CB7DD8}"/>
              </a:ext>
            </a:extLst>
          </p:cNvPr>
          <p:cNvSpPr/>
          <p:nvPr/>
        </p:nvSpPr>
        <p:spPr>
          <a:xfrm>
            <a:off x="5223579" y="2109357"/>
            <a:ext cx="1612900" cy="647700"/>
          </a:xfrm>
          <a:prstGeom prst="parallelogram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Parallelogram 89">
            <a:extLst>
              <a:ext uri="{FF2B5EF4-FFF2-40B4-BE49-F238E27FC236}">
                <a16:creationId xmlns:a16="http://schemas.microsoft.com/office/drawing/2014/main" id="{FF277538-A235-76A4-1BEB-3F453BDAFA61}"/>
              </a:ext>
            </a:extLst>
          </p:cNvPr>
          <p:cNvSpPr/>
          <p:nvPr/>
        </p:nvSpPr>
        <p:spPr>
          <a:xfrm>
            <a:off x="7859837" y="2109357"/>
            <a:ext cx="1968500" cy="647700"/>
          </a:xfrm>
          <a:prstGeom prst="parallelogram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" name="Parallelogram 90">
            <a:extLst>
              <a:ext uri="{FF2B5EF4-FFF2-40B4-BE49-F238E27FC236}">
                <a16:creationId xmlns:a16="http://schemas.microsoft.com/office/drawing/2014/main" id="{EC2A9636-C760-C2FC-6918-F8E7519473AC}"/>
              </a:ext>
            </a:extLst>
          </p:cNvPr>
          <p:cNvSpPr/>
          <p:nvPr/>
        </p:nvSpPr>
        <p:spPr>
          <a:xfrm>
            <a:off x="7560489" y="4629974"/>
            <a:ext cx="1263315" cy="647700"/>
          </a:xfrm>
          <a:prstGeom prst="parallelogram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" name="Parallelogram 91">
            <a:extLst>
              <a:ext uri="{FF2B5EF4-FFF2-40B4-BE49-F238E27FC236}">
                <a16:creationId xmlns:a16="http://schemas.microsoft.com/office/drawing/2014/main" id="{FA7C3682-8DE5-2C66-EB2B-E83C46B67D3D}"/>
              </a:ext>
            </a:extLst>
          </p:cNvPr>
          <p:cNvSpPr/>
          <p:nvPr/>
        </p:nvSpPr>
        <p:spPr>
          <a:xfrm>
            <a:off x="9124594" y="4629974"/>
            <a:ext cx="1359568" cy="647700"/>
          </a:xfrm>
          <a:prstGeom prst="parallelogram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B2A27330-C796-D157-13C6-F38C1416765A}"/>
                  </a:ext>
                </a:extLst>
              </p:cNvPr>
              <p:cNvSpPr txBox="1"/>
              <p:nvPr/>
            </p:nvSpPr>
            <p:spPr>
              <a:xfrm>
                <a:off x="11724197" y="2115195"/>
                <a:ext cx="1608428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Effective</a:t>
                </a:r>
                <a:endParaRPr lang="en-US" sz="16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sz="160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l-G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α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𝑠𝑎𝑡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B2A27330-C796-D157-13C6-F38C141676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24197" y="2115195"/>
                <a:ext cx="1608428" cy="584775"/>
              </a:xfrm>
              <a:prstGeom prst="rect">
                <a:avLst/>
              </a:prstGeom>
              <a:blipFill>
                <a:blip r:embed="rId9"/>
                <a:stretch>
                  <a:fillRect t="-2128" b="-8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Parallelogram 96">
            <a:extLst>
              <a:ext uri="{FF2B5EF4-FFF2-40B4-BE49-F238E27FC236}">
                <a16:creationId xmlns:a16="http://schemas.microsoft.com/office/drawing/2014/main" id="{93E1A996-D671-E265-4F4E-0F2F3B3F63BE}"/>
              </a:ext>
            </a:extLst>
          </p:cNvPr>
          <p:cNvSpPr/>
          <p:nvPr/>
        </p:nvSpPr>
        <p:spPr>
          <a:xfrm>
            <a:off x="11524974" y="2109357"/>
            <a:ext cx="1968500" cy="647700"/>
          </a:xfrm>
          <a:prstGeom prst="parallelogram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CC54A75F-88CF-6D58-BEAC-02EDE7F48661}"/>
              </a:ext>
            </a:extLst>
          </p:cNvPr>
          <p:cNvCxnSpPr>
            <a:cxnSpLocks/>
          </p:cNvCxnSpPr>
          <p:nvPr/>
        </p:nvCxnSpPr>
        <p:spPr>
          <a:xfrm>
            <a:off x="7292265" y="1542060"/>
            <a:ext cx="0" cy="26407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6444CDE2-712E-A5B6-1F7F-6A52DACBD728}"/>
              </a:ext>
            </a:extLst>
          </p:cNvPr>
          <p:cNvSpPr txBox="1"/>
          <p:nvPr/>
        </p:nvSpPr>
        <p:spPr>
          <a:xfrm>
            <a:off x="9324121" y="7259064"/>
            <a:ext cx="2788318" cy="83099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222222"/>
                </a:solidFill>
                <a:latin typeface="Arial" panose="020B0604020202020204" pitchFamily="34" charset="0"/>
              </a:rPr>
              <a:t>Model performance (NSE, RMSE, KGE, p-value) and visual assessment</a:t>
            </a: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E238D93B-3EE5-9C42-571A-77BB81593563}"/>
              </a:ext>
            </a:extLst>
          </p:cNvPr>
          <p:cNvCxnSpPr>
            <a:cxnSpLocks/>
          </p:cNvCxnSpPr>
          <p:nvPr/>
        </p:nvCxnSpPr>
        <p:spPr>
          <a:xfrm>
            <a:off x="9441427" y="6980645"/>
            <a:ext cx="0" cy="27432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11B4871C-583F-AA85-8C6E-B35FA0DBB952}"/>
              </a:ext>
            </a:extLst>
          </p:cNvPr>
          <p:cNvCxnSpPr>
            <a:cxnSpLocks/>
          </p:cNvCxnSpPr>
          <p:nvPr/>
        </p:nvCxnSpPr>
        <p:spPr>
          <a:xfrm flipH="1">
            <a:off x="6028738" y="1807064"/>
            <a:ext cx="285254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AEE4BEB3-6720-CB79-6561-8ED0F097DCA1}"/>
              </a:ext>
            </a:extLst>
          </p:cNvPr>
          <p:cNvCxnSpPr>
            <a:cxnSpLocks/>
          </p:cNvCxnSpPr>
          <p:nvPr/>
        </p:nvCxnSpPr>
        <p:spPr>
          <a:xfrm>
            <a:off x="4540562" y="2999026"/>
            <a:ext cx="0" cy="398161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E5E19193-3FC5-93F9-A287-F0F8350B52D6}"/>
              </a:ext>
            </a:extLst>
          </p:cNvPr>
          <p:cNvCxnSpPr>
            <a:cxnSpLocks/>
          </p:cNvCxnSpPr>
          <p:nvPr/>
        </p:nvCxnSpPr>
        <p:spPr>
          <a:xfrm flipH="1">
            <a:off x="4540562" y="6964601"/>
            <a:ext cx="489685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399E3B98-65C2-A233-2B83-ECB10CBDF8D7}"/>
              </a:ext>
            </a:extLst>
          </p:cNvPr>
          <p:cNvCxnSpPr>
            <a:cxnSpLocks/>
          </p:cNvCxnSpPr>
          <p:nvPr/>
        </p:nvCxnSpPr>
        <p:spPr>
          <a:xfrm>
            <a:off x="6269100" y="6423183"/>
            <a:ext cx="0" cy="38901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168DF34A-2F3A-A48C-0154-CB1426925B3B}"/>
              </a:ext>
            </a:extLst>
          </p:cNvPr>
          <p:cNvCxnSpPr>
            <a:cxnSpLocks/>
          </p:cNvCxnSpPr>
          <p:nvPr/>
        </p:nvCxnSpPr>
        <p:spPr>
          <a:xfrm flipH="1">
            <a:off x="6273110" y="6816211"/>
            <a:ext cx="358541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E5136E6B-B917-AB14-847A-146AC4C5B498}"/>
              </a:ext>
            </a:extLst>
          </p:cNvPr>
          <p:cNvCxnSpPr>
            <a:cxnSpLocks/>
          </p:cNvCxnSpPr>
          <p:nvPr/>
        </p:nvCxnSpPr>
        <p:spPr>
          <a:xfrm>
            <a:off x="9846491" y="6800171"/>
            <a:ext cx="0" cy="454794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EF240724-287B-51B9-E266-7F5DA6397E38}"/>
              </a:ext>
            </a:extLst>
          </p:cNvPr>
          <p:cNvCxnSpPr>
            <a:cxnSpLocks/>
          </p:cNvCxnSpPr>
          <p:nvPr/>
        </p:nvCxnSpPr>
        <p:spPr>
          <a:xfrm>
            <a:off x="7370104" y="4353915"/>
            <a:ext cx="0" cy="22657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27EB33BD-8E4A-D5ED-055C-41CD1F74607B}"/>
              </a:ext>
            </a:extLst>
          </p:cNvPr>
          <p:cNvCxnSpPr>
            <a:cxnSpLocks/>
          </p:cNvCxnSpPr>
          <p:nvPr/>
        </p:nvCxnSpPr>
        <p:spPr>
          <a:xfrm flipH="1">
            <a:off x="7370104" y="6619695"/>
            <a:ext cx="296967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DFA7A1D1-9BAA-2588-3818-37034A7E841A}"/>
              </a:ext>
            </a:extLst>
          </p:cNvPr>
          <p:cNvCxnSpPr>
            <a:cxnSpLocks/>
          </p:cNvCxnSpPr>
          <p:nvPr/>
        </p:nvCxnSpPr>
        <p:spPr>
          <a:xfrm>
            <a:off x="10323744" y="6603655"/>
            <a:ext cx="0" cy="65131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4D5C9388-6243-A7EE-9757-A1C0EC845D5F}"/>
              </a:ext>
            </a:extLst>
          </p:cNvPr>
          <p:cNvCxnSpPr>
            <a:cxnSpLocks/>
            <a:endCxn id="100" idx="0"/>
          </p:cNvCxnSpPr>
          <p:nvPr/>
        </p:nvCxnSpPr>
        <p:spPr>
          <a:xfrm>
            <a:off x="10718280" y="6417895"/>
            <a:ext cx="0" cy="84116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1FA28C71-E326-AA0C-D1E5-2131FC50008F}"/>
              </a:ext>
            </a:extLst>
          </p:cNvPr>
          <p:cNvCxnSpPr>
            <a:cxnSpLocks/>
          </p:cNvCxnSpPr>
          <p:nvPr/>
        </p:nvCxnSpPr>
        <p:spPr>
          <a:xfrm>
            <a:off x="11271323" y="1831129"/>
            <a:ext cx="0" cy="5423836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4D82D284-C9D4-7D3D-3FED-93F8BBAE366C}"/>
              </a:ext>
            </a:extLst>
          </p:cNvPr>
          <p:cNvCxnSpPr>
            <a:cxnSpLocks/>
          </p:cNvCxnSpPr>
          <p:nvPr/>
        </p:nvCxnSpPr>
        <p:spPr>
          <a:xfrm>
            <a:off x="11264639" y="1832631"/>
            <a:ext cx="131356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67AFFE45-2A13-8BE3-7BBC-4158A5D17B2F}"/>
              </a:ext>
            </a:extLst>
          </p:cNvPr>
          <p:cNvCxnSpPr>
            <a:cxnSpLocks/>
            <a:stCxn id="88" idx="2"/>
            <a:endCxn id="97" idx="1"/>
          </p:cNvCxnSpPr>
          <p:nvPr/>
        </p:nvCxnSpPr>
        <p:spPr>
          <a:xfrm>
            <a:off x="12578205" y="1538018"/>
            <a:ext cx="11982" cy="57133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E099ECAD-809E-A3A4-3F30-D840E560C766}"/>
              </a:ext>
            </a:extLst>
          </p:cNvPr>
          <p:cNvCxnSpPr>
            <a:cxnSpLocks/>
          </p:cNvCxnSpPr>
          <p:nvPr/>
        </p:nvCxnSpPr>
        <p:spPr>
          <a:xfrm>
            <a:off x="8217545" y="4353915"/>
            <a:ext cx="0" cy="27432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6BCBA70D-F1DB-1186-0409-46FC7F2257AB}"/>
              </a:ext>
            </a:extLst>
          </p:cNvPr>
          <p:cNvCxnSpPr>
            <a:cxnSpLocks/>
            <a:stCxn id="25" idx="2"/>
          </p:cNvCxnSpPr>
          <p:nvPr/>
        </p:nvCxnSpPr>
        <p:spPr>
          <a:xfrm>
            <a:off x="8846310" y="4147128"/>
            <a:ext cx="0" cy="20678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67A40514-1FD9-4D54-5420-2BC4EFF97A3A}"/>
              </a:ext>
            </a:extLst>
          </p:cNvPr>
          <p:cNvCxnSpPr>
            <a:cxnSpLocks/>
            <a:stCxn id="10" idx="2"/>
            <a:endCxn id="25" idx="1"/>
          </p:cNvCxnSpPr>
          <p:nvPr/>
        </p:nvCxnSpPr>
        <p:spPr>
          <a:xfrm>
            <a:off x="6028738" y="3730078"/>
            <a:ext cx="1765203" cy="15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1AFDD8C4-E8D7-8078-3B7D-A3A1E9E3FC76}"/>
              </a:ext>
            </a:extLst>
          </p:cNvPr>
          <p:cNvCxnSpPr>
            <a:cxnSpLocks/>
          </p:cNvCxnSpPr>
          <p:nvPr/>
        </p:nvCxnSpPr>
        <p:spPr>
          <a:xfrm>
            <a:off x="9680719" y="4353915"/>
            <a:ext cx="0" cy="27432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CF6ED00-BB7E-B5B2-B3DC-8DF23EC30132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3979685" y="1122520"/>
            <a:ext cx="231522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826BAE3-25F9-754B-73C2-BE7081C314C8}"/>
              </a:ext>
            </a:extLst>
          </p:cNvPr>
          <p:cNvCxnSpPr>
            <a:cxnSpLocks/>
          </p:cNvCxnSpPr>
          <p:nvPr/>
        </p:nvCxnSpPr>
        <p:spPr>
          <a:xfrm>
            <a:off x="3982065" y="1122519"/>
            <a:ext cx="0" cy="654774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Arc 9">
            <a:extLst>
              <a:ext uri="{FF2B5EF4-FFF2-40B4-BE49-F238E27FC236}">
                <a16:creationId xmlns:a16="http://schemas.microsoft.com/office/drawing/2014/main" id="{8D41247D-98C8-6B8F-DAB1-286738D0885B}"/>
              </a:ext>
            </a:extLst>
          </p:cNvPr>
          <p:cNvSpPr/>
          <p:nvPr/>
        </p:nvSpPr>
        <p:spPr>
          <a:xfrm rot="18900000">
            <a:off x="5794765" y="3689935"/>
            <a:ext cx="274116" cy="274116"/>
          </a:xfrm>
          <a:prstGeom prst="arc">
            <a:avLst/>
          </a:prstGeom>
          <a:ln w="222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16CBE040-530C-6289-BB3A-C7C762D21461}"/>
              </a:ext>
            </a:extLst>
          </p:cNvPr>
          <p:cNvSpPr/>
          <p:nvPr/>
        </p:nvSpPr>
        <p:spPr>
          <a:xfrm rot="18900000">
            <a:off x="4387416" y="3685688"/>
            <a:ext cx="274116" cy="274116"/>
          </a:xfrm>
          <a:prstGeom prst="arc">
            <a:avLst/>
          </a:prstGeom>
          <a:ln w="222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68C7136-6904-3E31-EF1C-E3ED3D951538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4621389" y="3725831"/>
            <a:ext cx="121296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16C5BA7-1CD9-1487-3A3F-47BF04DBD15A}"/>
              </a:ext>
            </a:extLst>
          </p:cNvPr>
          <p:cNvCxnSpPr>
            <a:cxnSpLocks/>
          </p:cNvCxnSpPr>
          <p:nvPr/>
        </p:nvCxnSpPr>
        <p:spPr>
          <a:xfrm>
            <a:off x="3979685" y="3717199"/>
            <a:ext cx="44623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7FE4438-C1DA-C462-881E-86FABD8A480B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3970493" y="7670262"/>
            <a:ext cx="1977930" cy="430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7DA44F5-D3FC-4CBE-65F5-553FA9A29201}"/>
                  </a:ext>
                </a:extLst>
              </p:cNvPr>
              <p:cNvSpPr txBox="1"/>
              <p:nvPr/>
            </p:nvSpPr>
            <p:spPr>
              <a:xfrm>
                <a:off x="5948423" y="7259064"/>
                <a:ext cx="3176167" cy="830997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rgbClr val="222222"/>
                    </a:solidFill>
                    <a:latin typeface="Arial" panose="020B0604020202020204" pitchFamily="34" charset="0"/>
                  </a:rPr>
                  <a:t>Global Sensitivity Analysis (GSA)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sz="1600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l-G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α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𝑠𝑎𝑡</m:t>
                          </m:r>
                        </m:sub>
                      </m:sSub>
                    </m:oMath>
                  </m:oMathPara>
                </a14:m>
                <a:endParaRPr lang="en-US" sz="1600" dirty="0">
                  <a:solidFill>
                    <a:srgbClr val="222222"/>
                  </a:solidFill>
                  <a:latin typeface="Arial" panose="020B0604020202020204" pitchFamily="34" charset="0"/>
                </a:endParaRPr>
              </a:p>
              <a:p>
                <a:pPr algn="ctr"/>
                <a:endParaRPr lang="en-US" sz="1600" dirty="0">
                  <a:solidFill>
                    <a:srgbClr val="222222"/>
                  </a:solidFill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7DA44F5-D3FC-4CBE-65F5-553FA9A292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8423" y="7259064"/>
                <a:ext cx="3176167" cy="830997"/>
              </a:xfrm>
              <a:prstGeom prst="rect">
                <a:avLst/>
              </a:prstGeom>
              <a:blipFill>
                <a:blip r:embed="rId10"/>
                <a:stretch>
                  <a:fillRect l="-794" t="-1493" r="-397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9E7FF31-FDA5-4C9D-B56E-56BBF88214C0}"/>
              </a:ext>
            </a:extLst>
          </p:cNvPr>
          <p:cNvCxnSpPr>
            <a:cxnSpLocks/>
          </p:cNvCxnSpPr>
          <p:nvPr/>
        </p:nvCxnSpPr>
        <p:spPr>
          <a:xfrm>
            <a:off x="7376429" y="4353915"/>
            <a:ext cx="230429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8DD5C772-56E3-BF19-21B8-5EBAFA435C59}"/>
              </a:ext>
            </a:extLst>
          </p:cNvPr>
          <p:cNvSpPr/>
          <p:nvPr/>
        </p:nvSpPr>
        <p:spPr>
          <a:xfrm>
            <a:off x="5906103" y="2973984"/>
            <a:ext cx="56377" cy="5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191806AD-7AA5-5406-D91A-93A570109E81}"/>
              </a:ext>
            </a:extLst>
          </p:cNvPr>
          <p:cNvSpPr/>
          <p:nvPr/>
        </p:nvSpPr>
        <p:spPr>
          <a:xfrm>
            <a:off x="8816808" y="2975244"/>
            <a:ext cx="56377" cy="5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318C7C57-5AD5-B3C7-CBE1-26A5FE934B2D}"/>
              </a:ext>
            </a:extLst>
          </p:cNvPr>
          <p:cNvSpPr/>
          <p:nvPr/>
        </p:nvSpPr>
        <p:spPr>
          <a:xfrm>
            <a:off x="7267623" y="1773681"/>
            <a:ext cx="56377" cy="5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344FEF5E-A0F7-3838-16B5-7D6DAB26A230}"/>
              </a:ext>
            </a:extLst>
          </p:cNvPr>
          <p:cNvSpPr/>
          <p:nvPr/>
        </p:nvSpPr>
        <p:spPr>
          <a:xfrm>
            <a:off x="8824365" y="4327947"/>
            <a:ext cx="56377" cy="5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1820E0E0-7180-EB6C-9486-83A0D9D4B984}"/>
              </a:ext>
            </a:extLst>
          </p:cNvPr>
          <p:cNvSpPr/>
          <p:nvPr/>
        </p:nvSpPr>
        <p:spPr>
          <a:xfrm>
            <a:off x="12557523" y="1803909"/>
            <a:ext cx="56377" cy="5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5BE534AE-1DEC-7162-2251-93E85A9C9900}"/>
              </a:ext>
            </a:extLst>
          </p:cNvPr>
          <p:cNvSpPr/>
          <p:nvPr/>
        </p:nvSpPr>
        <p:spPr>
          <a:xfrm>
            <a:off x="3957657" y="3693159"/>
            <a:ext cx="56377" cy="5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188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CE03026-FDD1-0BA1-4AE4-80B2CA08F557}"/>
              </a:ext>
            </a:extLst>
          </p:cNvPr>
          <p:cNvGrpSpPr/>
          <p:nvPr/>
        </p:nvGrpSpPr>
        <p:grpSpPr>
          <a:xfrm>
            <a:off x="191100" y="643467"/>
            <a:ext cx="17177667" cy="8178800"/>
            <a:chOff x="191100" y="643467"/>
            <a:chExt cx="17177667" cy="81788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67D1696-C00B-D4B8-9260-42271F45E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99902" y="643467"/>
              <a:ext cx="9668865" cy="8178800"/>
            </a:xfrm>
            <a:prstGeom prst="rect">
              <a:avLst/>
            </a:prstGeom>
          </p:spPr>
        </p:pic>
        <p:pic>
          <p:nvPicPr>
            <p:cNvPr id="6" name="image2.png" descr="A diagram of water flowing through a puddle&#10;&#10;AI-generated content may be incorrect.">
              <a:extLst>
                <a:ext uri="{FF2B5EF4-FFF2-40B4-BE49-F238E27FC236}">
                  <a16:creationId xmlns:a16="http://schemas.microsoft.com/office/drawing/2014/main" id="{01E24DF5-3090-6583-55EA-1C805BC0CB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9453"/>
            <a:stretch>
              <a:fillRect/>
            </a:stretch>
          </p:blipFill>
          <p:spPr bwMode="auto">
            <a:xfrm>
              <a:off x="346457" y="1422400"/>
              <a:ext cx="8119980" cy="42076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FC1DF73-3F3C-7572-CEEC-06B1228CA06E}"/>
                </a:ext>
              </a:extLst>
            </p:cNvPr>
            <p:cNvSpPr txBox="1"/>
            <p:nvPr/>
          </p:nvSpPr>
          <p:spPr>
            <a:xfrm>
              <a:off x="191100" y="643467"/>
              <a:ext cx="72813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/>
                <a:t>(a)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0288EB6-64EF-DD94-242B-A8CAC7CDC031}"/>
                </a:ext>
              </a:extLst>
            </p:cNvPr>
            <p:cNvSpPr txBox="1"/>
            <p:nvPr/>
          </p:nvSpPr>
          <p:spPr>
            <a:xfrm>
              <a:off x="8415867" y="643467"/>
              <a:ext cx="72813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/>
                <a:t>(b)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801061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8617</TotalTime>
  <Words>131</Words>
  <Application>Microsoft Macintosh PowerPoint</Application>
  <PresentationFormat>Custom</PresentationFormat>
  <Paragraphs>24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Lucie Guertault</dc:creator>
  <cp:lastModifiedBy>Munoz-Carpena,Rafael</cp:lastModifiedBy>
  <cp:revision>10</cp:revision>
  <dcterms:created xsi:type="dcterms:W3CDTF">2025-08-06T18:39:53Z</dcterms:created>
  <dcterms:modified xsi:type="dcterms:W3CDTF">2025-10-01T13:02:25Z</dcterms:modified>
</cp:coreProperties>
</file>